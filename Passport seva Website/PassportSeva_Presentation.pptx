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0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302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4FD6">
              <a:alpha val="12000"/>
            </a:srgbClr>
          </a:solidFill>
          <a:ln w="12700">
            <a:solidFill>
              <a:srgbClr val="1A4FD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1A4FD6">
              <a:alpha val="35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8BDF8"/>
                </a:solidFill>
              </a:rPr>
              <a:t>🇮🇳  ANSHUMAT FOUNDATION  •  2025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Passport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Seva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India's Passport Application  —  Redesigned for Real People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401568"/>
            <a:ext cx="955548" cy="256032"/>
          </a:xfrm>
          <a:prstGeom prst="roundRect">
            <a:avLst>
              <a:gd name="adj" fmla="val 17857"/>
            </a:avLst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01568"/>
            <a:ext cx="955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 Screens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22476" y="3401568"/>
            <a:ext cx="157734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2476" y="340156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Step-by-Step Flow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9544" y="3401568"/>
            <a:ext cx="142189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9544" y="3401568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HTML / CSS / JS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41164" y="3401568"/>
            <a:ext cx="1033272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1164" y="3401568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Responsive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0" y="548640"/>
            <a:ext cx="2926080" cy="4023360"/>
          </a:xfrm>
          <a:prstGeom prst="rect">
            <a:avLst/>
          </a:prstGeom>
          <a:solidFill>
            <a:srgbClr val="122040"/>
          </a:solidFill>
          <a:ln w="19050">
            <a:solidFill>
              <a:srgbClr val="1A4FD6"/>
            </a:solidFill>
            <a:prstDash val="solid"/>
          </a:ln>
          <a:effectLst>
            <a:outerShdw blurRad="228600" dist="762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594360"/>
            <a:ext cx="2834640" cy="39319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1C"/>
          </a:solidFill>
          <a:ln w="12700">
            <a:solidFill>
              <a:srgbClr val="060E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PassportSeva  •  Complete UX Presentation  •  Anshumat Foundation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8BDF8"/>
                </a:solidFill>
              </a:rPr>
              <a:t>Why did India's passport portal need a redesign?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057400" cy="73152"/>
          </a:xfrm>
          <a:prstGeom prst="rect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😵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4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2860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Fields on ONE 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0906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No steps, no guidance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18872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88720"/>
            <a:ext cx="205740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23160" y="1920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42316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Progress saved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30906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Refresh = start over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188720"/>
            <a:ext cx="2057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🚫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17720" y="1920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61772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Document Checklist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0906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Users don't know what to bring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118872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188720"/>
            <a:ext cx="20574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3716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812280" y="1920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681228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Pages to book a slot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0906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Date → slots → confirm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  —  6 Simple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188720" cy="1188720"/>
          </a:xfrm>
          <a:prstGeom prst="ellipse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Create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Account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7048" y="1627632"/>
            <a:ext cx="49377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15179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37360" y="1051560"/>
            <a:ext cx="1188720" cy="1188720"/>
          </a:xfrm>
          <a:prstGeom prst="ellipse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1051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69164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Fill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44368" y="1627632"/>
            <a:ext cx="49377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5179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4680" y="1051560"/>
            <a:ext cx="1188720" cy="11887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54680" y="1051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10896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Upload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Docs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61688" y="1627632"/>
            <a:ext cx="49377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15179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1188720" cy="11887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1051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2628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Book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Appointment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79008" y="1627632"/>
            <a:ext cx="49377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15179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89320" y="1051560"/>
            <a:ext cx="1188720" cy="11887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1051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94360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Visit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PSK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96328" y="1627632"/>
            <a:ext cx="49377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0648" y="15179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06640" y="1051560"/>
            <a:ext cx="1188720" cy="11887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06640" y="1051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36092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Receive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Passport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154680"/>
            <a:ext cx="118872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1A4FD6"/>
            </a:solidFill>
            <a:prstDash val="solid"/>
          </a:ln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328" y="3172968"/>
            <a:ext cx="1152144" cy="1563624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1737360" y="3154680"/>
            <a:ext cx="118872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1A4FD6"/>
            </a:solidFill>
            <a:prstDash val="solid"/>
          </a:ln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55648" y="3172968"/>
            <a:ext cx="1152144" cy="1563624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3154680" y="3154680"/>
            <a:ext cx="118872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72968" y="3172968"/>
            <a:ext cx="1152144" cy="1563624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4572000" y="3154680"/>
            <a:ext cx="118872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90288" y="3172968"/>
            <a:ext cx="1152144" cy="1563624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5989320" y="3154680"/>
            <a:ext cx="118872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07608" y="3172968"/>
            <a:ext cx="1152144" cy="1563624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7406640" y="3154680"/>
            <a:ext cx="1188720" cy="1600200"/>
          </a:xfrm>
          <a:prstGeom prst="rect">
            <a:avLst/>
          </a:prstGeom>
          <a:solidFill>
            <a:srgbClr val="12204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4928" y="3172968"/>
            <a:ext cx="1152144" cy="1563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JOURNEY FLOWCHART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</a:rPr>
              <a:t>End-to-end passport application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" y="841248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841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START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138428"/>
            <a:ext cx="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0469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</a:rPr>
              <a:t>▶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51560" y="868680"/>
            <a:ext cx="1143000" cy="539496"/>
          </a:xfrm>
          <a:prstGeom prst="roundRect">
            <a:avLst>
              <a:gd name="adj" fmla="val 1355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868680"/>
            <a:ext cx="1143000" cy="5394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Visit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PassportSeva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12848" y="1138428"/>
            <a:ext cx="256032" cy="0"/>
          </a:xfrm>
          <a:prstGeom prst="line">
            <a:avLst/>
          </a:prstGeom>
          <a:noFill/>
          <a:ln w="19050">
            <a:solidFill>
              <a:srgbClr val="1A4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0469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4FD6"/>
                </a:solidFill>
              </a:rPr>
              <a:t>▶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 rot="2700000">
            <a:off x="2587295" y="904799"/>
            <a:ext cx="467258" cy="46725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7168" y="804672"/>
            <a:ext cx="667512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New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User?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20924" y="1472184"/>
            <a:ext cx="0" cy="50292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38628" y="1700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64410" y="1989262"/>
            <a:ext cx="822960" cy="475488"/>
          </a:xfrm>
          <a:prstGeom prst="roundRect">
            <a:avLst>
              <a:gd name="adj" fmla="val 15385"/>
            </a:avLst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35982" y="1989262"/>
            <a:ext cx="8229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Register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64408" y="2178881"/>
            <a:ext cx="274320" cy="0"/>
          </a:xfrm>
          <a:prstGeom prst="line">
            <a:avLst/>
          </a:prstGeom>
          <a:noFill/>
          <a:ln w="19050">
            <a:solidFill>
              <a:srgbClr val="1A4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65576" y="1956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4FD6"/>
                </a:solidFill>
              </a:rPr>
              <a:t>▶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172968" y="1138428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0469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</a:rPr>
              <a:t>▶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447288" y="868680"/>
            <a:ext cx="914400" cy="539496"/>
          </a:xfrm>
          <a:prstGeom prst="roundRect">
            <a:avLst>
              <a:gd name="adj" fmla="val 13559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47288" y="868680"/>
            <a:ext cx="914400" cy="5394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Sign 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79976" y="1138428"/>
            <a:ext cx="256032" cy="0"/>
          </a:xfrm>
          <a:prstGeom prst="line">
            <a:avLst/>
          </a:prstGeom>
          <a:noFill/>
          <a:ln w="19050">
            <a:solidFill>
              <a:srgbClr val="1A4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2856" y="10469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4FD6"/>
                </a:solidFill>
              </a:rPr>
              <a:t>▶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54296" y="868680"/>
            <a:ext cx="1188720" cy="539496"/>
          </a:xfrm>
          <a:prstGeom prst="roundRect">
            <a:avLst>
              <a:gd name="adj" fmla="val 1355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54296" y="868680"/>
            <a:ext cx="1188720" cy="5394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61304" y="1138428"/>
            <a:ext cx="256032" cy="0"/>
          </a:xfrm>
          <a:prstGeom prst="line">
            <a:avLst/>
          </a:prstGeom>
          <a:noFill/>
          <a:ln w="19050">
            <a:solidFill>
              <a:srgbClr val="1A4F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44184" y="10469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4FD6"/>
                </a:solidFill>
              </a:rPr>
              <a:t>▶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35624" y="868680"/>
            <a:ext cx="1143000" cy="539496"/>
          </a:xfrm>
          <a:prstGeom prst="roundRect">
            <a:avLst>
              <a:gd name="adj" fmla="val 13559"/>
            </a:avLst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35624" y="868680"/>
            <a:ext cx="1143000" cy="5394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New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96912" y="1138428"/>
            <a:ext cx="256032" cy="0"/>
          </a:xfrm>
          <a:prstGeom prst="line">
            <a:avLst/>
          </a:prstGeom>
          <a:noFill/>
          <a:ln w="19050">
            <a:solidFill>
              <a:srgbClr val="1A4F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10469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4FD6"/>
                </a:solidFill>
              </a:rPr>
              <a:t>▶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571232" y="868680"/>
            <a:ext cx="1325880" cy="539496"/>
          </a:xfrm>
          <a:prstGeom prst="roundRect">
            <a:avLst>
              <a:gd name="adj" fmla="val 1355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71232" y="868680"/>
            <a:ext cx="1325880" cy="5394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Auto-Save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16268" y="1408176"/>
            <a:ext cx="0" cy="566928"/>
          </a:xfrm>
          <a:prstGeom prst="line">
            <a:avLst/>
          </a:prstGeom>
          <a:noFill/>
          <a:ln w="19050">
            <a:solidFill>
              <a:srgbClr val="1A4F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3972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4FD6"/>
                </a:solidFill>
              </a:rPr>
              <a:t>▼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760720" y="1993392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760720" y="1993392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Step 4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Details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77840" y="2258568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9552" y="218541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</a:rPr>
              <a:t>◀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663440" y="1993392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63440" y="1993392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Step 3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480560" y="2258568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62272" y="218541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</a:rPr>
              <a:t>◀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3566160" y="1993392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163264"/>
          </a:solidFill>
          <a:ln w="12700">
            <a:solidFill>
              <a:srgbClr val="163264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566160" y="1993392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Step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83280" y="2258568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64992" y="218541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</a:rPr>
              <a:t>◀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2468880" y="1993392"/>
            <a:ext cx="10058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971800" y="2523744"/>
            <a:ext cx="0" cy="292608"/>
          </a:xfrm>
          <a:prstGeom prst="line">
            <a:avLst/>
          </a:prstGeom>
          <a:noFill/>
          <a:ln w="19050">
            <a:solidFill>
              <a:srgbClr val="1A4F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89504" y="27249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4FD6"/>
                </a:solidFill>
              </a:rPr>
              <a:t>▼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240280" y="283464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240280" y="2834640"/>
            <a:ext cx="1463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Upload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21608" y="3099816"/>
            <a:ext cx="25603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04488" y="30083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▶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 rot="2700000">
            <a:off x="4086454" y="2888590"/>
            <a:ext cx="422453" cy="422453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995928" y="2798064"/>
            <a:ext cx="60350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All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Docs?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995928" y="3401568"/>
            <a:ext cx="0" cy="274320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40280" y="3675888"/>
            <a:ext cx="1828800" cy="0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0" y="34015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9E0B"/>
                </a:solidFill>
              </a:rPr>
              <a:t>No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286000" y="3694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59E0B"/>
                </a:solidFill>
              </a:rPr>
              <a:t>Re-upload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617720" y="3099816"/>
            <a:ext cx="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18888" y="30083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</a:rPr>
              <a:t>▶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910328" y="283464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910328" y="2834640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Book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300216" y="3099816"/>
            <a:ext cx="256032" cy="0"/>
          </a:xfrm>
          <a:prstGeom prst="line">
            <a:avLst/>
          </a:prstGeom>
          <a:noFill/>
          <a:ln w="19050">
            <a:solidFill>
              <a:srgbClr val="1A4F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83096" y="30083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4FD6"/>
                </a:solidFill>
              </a:rPr>
              <a:t>▶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574536" y="2834640"/>
            <a:ext cx="1371600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574536" y="2834640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Submit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260336" y="3364992"/>
            <a:ext cx="0" cy="29260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78040" y="3566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</a:rPr>
              <a:t>▼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574536" y="3675888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6574536" y="3675888"/>
            <a:ext cx="1371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Confirmation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Application ID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964424" y="3927348"/>
            <a:ext cx="27432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165592" y="38359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</a:rPr>
              <a:t>▶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257032" y="365760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8257032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END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82880" y="46634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7472" y="4645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Action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371600" y="46634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536192" y="4645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Decision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560320" y="46634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24912" y="4645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Auto Feature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3749040" y="46634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13632" y="4645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Success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" y="182880"/>
            <a:ext cx="484632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6636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166360" y="274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Homepage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166360" y="731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4A3B8"/>
                </a:solidFill>
              </a:rPr>
              <a:t>Landing Page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0368" y="1143000"/>
            <a:ext cx="384048" cy="384048"/>
          </a:xfrm>
          <a:prstGeom prst="ellipse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3036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87568" y="11612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Trust Badge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87568" y="13807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Govt portal badge + stats strip builds instant credibility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230368" y="2057400"/>
            <a:ext cx="384048" cy="384048"/>
          </a:xfrm>
          <a:prstGeom prst="ellipse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036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87568" y="2075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Quick Access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87568" y="22951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 shortcuts for returning users — no scrolling needed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230368" y="2971800"/>
            <a:ext cx="384048" cy="384048"/>
          </a:xfrm>
          <a:prstGeom prst="ellipse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3036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87568" y="29900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Social Proof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87568" y="32095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2.4M+ apps, 98.7% satisfaction shown above the fold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230368" y="3886200"/>
            <a:ext cx="384048" cy="384048"/>
          </a:xfrm>
          <a:prstGeom prst="ellipse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3036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687568" y="39044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Clear CTA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87568" y="41239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Apply Now stands out with gradient + shadow button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Sign In / Register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</a:rPr>
              <a:t>OTP-only auth — no passwords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657600" cy="3474720"/>
          </a:xfrm>
          <a:prstGeom prst="rect">
            <a:avLst/>
          </a:prstGeom>
          <a:solidFill>
            <a:srgbClr val="122040"/>
          </a:solidFill>
          <a:ln w="19050">
            <a:solidFill>
              <a:srgbClr val="1A4FD6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941832"/>
            <a:ext cx="3602736" cy="34198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Sign In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06240" y="914400"/>
            <a:ext cx="3657600" cy="3474720"/>
          </a:xfrm>
          <a:prstGeom prst="rect">
            <a:avLst/>
          </a:prstGeom>
          <a:solidFill>
            <a:srgbClr val="122040"/>
          </a:solidFill>
          <a:ln w="1905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33672" y="941832"/>
            <a:ext cx="3602736" cy="34198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062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Register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909560" y="960120"/>
            <a:ext cx="1005840" cy="4023360"/>
          </a:xfrm>
          <a:prstGeom prst="roundRect">
            <a:avLst>
              <a:gd name="adj" fmla="val 7273"/>
            </a:avLst>
          </a:prstGeom>
          <a:solidFill>
            <a:srgbClr val="0D1F38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27848" y="1005840"/>
            <a:ext cx="969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📱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OTP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only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927848" y="1993392"/>
            <a:ext cx="969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30s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countdown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927848" y="2980944"/>
            <a:ext cx="969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Zero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password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7927848" y="3968496"/>
            <a:ext cx="969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Works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on all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phones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User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669280" cy="38404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4F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" y="941832"/>
            <a:ext cx="5614416" cy="3785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914400"/>
            <a:ext cx="2834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4FD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914400"/>
            <a:ext cx="64008" cy="804672"/>
          </a:xfrm>
          <a:prstGeom prst="rect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6208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01968" y="10058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Status Cards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01968" y="126187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3 metric cards: apps, appointments, documents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26480" y="1920240"/>
            <a:ext cx="2834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192024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6208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01968" y="20116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Apps Table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01968" y="226771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Status badges: Draft, Processing, Submitted, Ready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26480" y="2926080"/>
            <a:ext cx="2834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92608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6208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01968" y="30175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Appointment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01968" y="327355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Date, time, PSK, token — always visible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126480" y="3931920"/>
            <a:ext cx="283464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0" y="393192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36208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01968" y="40233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Quick Actions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01968" y="4279392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Continue draft, upload docs, download PDF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Application Form  —  4-Step Wizard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4206240" cy="20116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4FD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312" y="896112"/>
            <a:ext cx="4151376" cy="1956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2569464"/>
            <a:ext cx="4206240" cy="310896"/>
          </a:xfrm>
          <a:prstGeom prst="rect">
            <a:avLst/>
          </a:prstGeom>
          <a:solidFill>
            <a:srgbClr val="1A4FD6">
              <a:alpha val="85000"/>
            </a:srgbClr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25694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1 · Personal Info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17720" y="868680"/>
            <a:ext cx="4206240" cy="2011680"/>
          </a:xfrm>
          <a:prstGeom prst="rect">
            <a:avLst/>
          </a:prstGeom>
          <a:solidFill>
            <a:srgbClr val="122040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45152" y="896112"/>
            <a:ext cx="4151376" cy="195681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17720" y="2569464"/>
            <a:ext cx="4206240" cy="310896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17720" y="25694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2 · Address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182880" y="3017520"/>
            <a:ext cx="4206240" cy="20116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4FD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0312" y="3044952"/>
            <a:ext cx="4151376" cy="195681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82880" y="4718304"/>
            <a:ext cx="4206240" cy="310896"/>
          </a:xfrm>
          <a:prstGeom prst="rect">
            <a:avLst/>
          </a:prstGeom>
          <a:solidFill>
            <a:srgbClr val="1A4FD6">
              <a:alpha val="85000"/>
            </a:srgbClr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82880" y="4718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3 · Family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617720" y="3017520"/>
            <a:ext cx="4206240" cy="2011680"/>
          </a:xfrm>
          <a:prstGeom prst="rect">
            <a:avLst/>
          </a:prstGeom>
          <a:solidFill>
            <a:srgbClr val="122040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45152" y="3044952"/>
            <a:ext cx="4151376" cy="195681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17720" y="4718304"/>
            <a:ext cx="4206240" cy="310896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617720" y="47183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4 · App Details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566160" y="2487168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356616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💾 Auto-saves every 45 sec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+ 06  Document Upload  &amp;  Appointment Booking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114800" cy="3383280"/>
          </a:xfrm>
          <a:prstGeom prst="rect">
            <a:avLst/>
          </a:prstGeom>
          <a:solidFill>
            <a:srgbClr val="1220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312" y="941832"/>
            <a:ext cx="4059936" cy="3328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4343400"/>
            <a:ext cx="4114800" cy="54864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📎 Card grid — not plain file inputs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56032" y="4599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✅ Click to upload → green border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56032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6032" y="4599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800600" y="914400"/>
            <a:ext cx="4114800" cy="3383280"/>
          </a:xfrm>
          <a:prstGeom prst="rect">
            <a:avLst/>
          </a:prstGeom>
          <a:solidFill>
            <a:srgbClr val="122040"/>
          </a:solidFill>
          <a:ln w="19050">
            <a:solidFill>
              <a:srgbClr val="1A4FD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8032" y="941832"/>
            <a:ext cx="4059936" cy="33284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00600" y="4343400"/>
            <a:ext cx="4114800" cy="548640"/>
          </a:xfrm>
          <a:prstGeom prst="rect">
            <a:avLst/>
          </a:prstGeom>
          <a:solidFill>
            <a:srgbClr val="1A4FD6">
              <a:alpha val="85000"/>
            </a:srgbClr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73752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📅 Calendar + slots on ONE screen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873752" y="4599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🔴 Full slots = strikethrough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873752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873752" y="4599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4462272" y="822960"/>
            <a:ext cx="0" cy="4114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Confirmation Screen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4572000" cy="3931920"/>
          </a:xfrm>
          <a:prstGeom prst="rect">
            <a:avLst/>
          </a:prstGeom>
          <a:solidFill>
            <a:srgbClr val="122040"/>
          </a:solidFill>
          <a:ln w="1905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23544"/>
            <a:ext cx="4517136" cy="3877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What happens after submission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349240" y="1655064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120640" y="134416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87568" y="1371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Application Submitted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87568" y="15819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Day 0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366760" y="1417320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14173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</a:rPr>
              <a:t>Day 0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349240" y="2350008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5120640" y="2039112"/>
            <a:ext cx="457200" cy="457200"/>
          </a:xfrm>
          <a:prstGeom prst="ellipse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87568" y="20665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PSK Appointment Visit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87568" y="2276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Day 8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366760" y="2112264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1A4FD6">
              <a:alpha val="25000"/>
            </a:srgbClr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6760" y="211226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4FD6"/>
                </a:solidFill>
              </a:rPr>
              <a:t>Day 8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349240" y="3044952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5120640" y="273405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87568" y="27614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Police Verification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687568" y="2971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Day 13–15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366760" y="2807208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280720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</a:rPr>
              <a:t>Day 13–15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349240" y="3739896"/>
            <a:ext cx="0" cy="384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5120640" y="34290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20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87568" y="3456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Passport Dispatched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87568" y="36667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Day 22–25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366760" y="3502152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350215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9488"/>
                </a:solidFill>
              </a:rPr>
              <a:t>Day 22–25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120640" y="412394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687568" y="41513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Doorstep Delivery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687568" y="4361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Day 28–30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366760" y="4197096"/>
            <a:ext cx="594360" cy="292608"/>
          </a:xfrm>
          <a:prstGeom prst="roundRect">
            <a:avLst>
              <a:gd name="adj" fmla="val 15625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66760" y="419709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</a:rPr>
              <a:t>Day 28–30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029200" y="4754880"/>
            <a:ext cx="39319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29200" y="4754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FD6"/>
                </a:solidFill>
              </a:rPr>
              <a:t>📥 PDF Receipt    📧 Email Confirm    📤 Share ID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UX Features  —  Before vs After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9202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22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76272" y="822960"/>
            <a:ext cx="3200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6272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❌  BEFORE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9824" y="822960"/>
            <a:ext cx="35661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9824" y="822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✅  AFTER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234440"/>
            <a:ext cx="1920240" cy="640080"/>
          </a:xfrm>
          <a:prstGeom prst="rect">
            <a:avLst/>
          </a:prstGeom>
          <a:solidFill>
            <a:srgbClr val="1A4FD6">
              <a:alpha val="15000"/>
            </a:srgbClr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FD6"/>
                </a:solidFill>
              </a:rPr>
              <a:t>📝 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76272" y="1234440"/>
            <a:ext cx="320040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23444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1 long form with 50+ fields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9824" y="1234440"/>
            <a:ext cx="35661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234440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</a:rPr>
              <a:t>4-step wizard with progress bar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1984248"/>
            <a:ext cx="1920240" cy="6400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19842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💾 Autosave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76272" y="1984248"/>
            <a:ext cx="320040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984248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No save — refresh loses everything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9824" y="1984248"/>
            <a:ext cx="35661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198424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</a:rPr>
              <a:t>Saves every 45 sec + on each step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2734056"/>
            <a:ext cx="192024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7340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📎 Uploads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76272" y="2734056"/>
            <a:ext cx="320040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2734056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Plain file inputs, no guidance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49824" y="2734056"/>
            <a:ext cx="35661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2734056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</a:rPr>
              <a:t>Visual cards with status + guidelines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3483864"/>
            <a:ext cx="192024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34838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📅 Booking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76272" y="3483864"/>
            <a:ext cx="320040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3483864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3 separate pages to pick a slot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49824" y="3483864"/>
            <a:ext cx="35661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3483864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</a:rPr>
              <a:t>Calendar + slots on ONE screen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4233672"/>
            <a:ext cx="1920240" cy="640080"/>
          </a:xfrm>
          <a:prstGeom prst="rect">
            <a:avLst/>
          </a:prstGeom>
          <a:solidFill>
            <a:srgbClr val="1A4FD6">
              <a:alpha val="15000"/>
            </a:srgbClr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2336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FD6"/>
                </a:solidFill>
              </a:rPr>
              <a:t>✅ Confirmation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76272" y="4233672"/>
            <a:ext cx="320040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4233672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1B1B"/>
                </a:solidFill>
              </a:rPr>
              <a:t>Basic 'submitted' message only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49824" y="4233672"/>
            <a:ext cx="35661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4233672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</a:rPr>
              <a:t>ID copy + PDF + email + timeline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 &amp;  File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743200" cy="3886200"/>
          </a:xfrm>
          <a:prstGeom prst="rect">
            <a:avLst/>
          </a:prstGeom>
          <a:solidFill>
            <a:srgbClr val="0D1F38"/>
          </a:solidFill>
          <a:ln w="19050">
            <a:solidFill>
              <a:srgbClr val="1A4FD6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743200" cy="73152"/>
          </a:xfrm>
          <a:prstGeom prst="rect">
            <a:avLst/>
          </a:prstGeom>
          <a:solidFill>
            <a:srgbClr val="1A4FD6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🏗️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4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45 KB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286000" cy="0"/>
          </a:xfrm>
          <a:prstGeom prst="line">
            <a:avLst/>
          </a:prstGeom>
          <a:noFill/>
          <a:ln w="6350">
            <a:solidFill>
              <a:srgbClr val="1A4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4FD6"/>
                </a:solidFill>
              </a:rPr>
              <a:t>7 screen panels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90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4FD6"/>
                </a:solidFill>
              </a:rPr>
              <a:t>Semantic HTML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930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4FD6"/>
                </a:solidFill>
              </a:rPr>
              <a:t>ARIA labels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4FD6"/>
                </a:solidFill>
              </a:rPr>
              <a:t>Navigation links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868680"/>
            <a:ext cx="2743200" cy="3886200"/>
          </a:xfrm>
          <a:prstGeom prst="rect">
            <a:avLst/>
          </a:prstGeom>
          <a:solidFill>
            <a:srgbClr val="0D1F38"/>
          </a:solidFill>
          <a:ln w="19050">
            <a:solidFill>
              <a:srgbClr val="0D9488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86868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337560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37 KB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395728"/>
            <a:ext cx="2286000" cy="0"/>
          </a:xfrm>
          <a:prstGeom prst="line">
            <a:avLst/>
          </a:prstGeom>
          <a:noFill/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9488"/>
                </a:solidFill>
              </a:rPr>
              <a:t>CSS variables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2990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9488"/>
                </a:solidFill>
              </a:rPr>
              <a:t>Component classes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4930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9488"/>
                </a:solidFill>
              </a:rPr>
              <a:t>Animations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9488"/>
                </a:solidFill>
              </a:rPr>
              <a:t>Media queries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868680"/>
            <a:ext cx="2743200" cy="3886200"/>
          </a:xfrm>
          <a:prstGeom prst="rect">
            <a:avLst/>
          </a:prstGeom>
          <a:solidFill>
            <a:srgbClr val="0D1F38"/>
          </a:solidFill>
          <a:ln w="19050">
            <a:solidFill>
              <a:srgbClr val="F59E0B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86868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217920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script.js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15 KB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2395728"/>
            <a:ext cx="228600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</a:rPr>
              <a:t>Screen routing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2990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</a:rPr>
              <a:t>Form wizard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4930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</a:rPr>
              <a:t>Autosave 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</a:rPr>
              <a:t>Toast manager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0" y="4773168"/>
            <a:ext cx="365760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⚡  Zero frameworks  •  Total &lt; 100 KB  •  Works with any backend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1A4FD6">
              <a:alpha val="10000"/>
            </a:srgbClr>
          </a:solidFill>
          <a:ln w="12700">
            <a:solidFill>
              <a:srgbClr val="1A4FD6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🇮🇳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57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PassportSeva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8BDF8"/>
                </a:solidFill>
              </a:rPr>
              <a:t>Designed for every Indian citizen — not just the tech-savvy ones.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783080" cy="1371600"/>
          </a:xfrm>
          <a:prstGeom prst="rect">
            <a:avLst/>
          </a:prstGeom>
          <a:solidFill>
            <a:srgbClr val="0D1F38"/>
          </a:solidFill>
          <a:ln w="12700">
            <a:solidFill>
              <a:srgbClr val="1A4FD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4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Screens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1783080" cy="1371600"/>
          </a:xfrm>
          <a:prstGeom prst="rect">
            <a:avLst/>
          </a:prstGeom>
          <a:solidFill>
            <a:srgbClr val="0D1F3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56032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 Steps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1783080" cy="1371600"/>
          </a:xfrm>
          <a:prstGeom prst="rect">
            <a:avLst/>
          </a:prstGeom>
          <a:solidFill>
            <a:srgbClr val="0D1F38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66344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Autosave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920240"/>
            <a:ext cx="1783080" cy="1371600"/>
          </a:xfrm>
          <a:prstGeom prst="rect">
            <a:avLst/>
          </a:prstGeom>
          <a:solidFill>
            <a:srgbClr val="0D1F38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9659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766560" y="2743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Screenshots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0D1F38"/>
          </a:solidFill>
          <a:ln w="12700">
            <a:solidFill>
              <a:srgbClr val="1A4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74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Demo Login  →  hire-me@anshumat.org  /  HireMe@2025!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Built with HTML5 • CSS3 • Vanilla JS  |  Anshumat Foundation  •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647</Words>
  <Application>Microsoft Office PowerPoint</Application>
  <PresentationFormat>On-screen Show (16:9)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PassportSeva — UX Presentation</dc:title>
  <dc:subject>PptxGenJS Presentation</dc:subject>
  <dc:creator>Anshumat Foundation</dc:creator>
  <cp:lastModifiedBy>Hp</cp:lastModifiedBy>
  <cp:revision>2</cp:revision>
  <dcterms:created xsi:type="dcterms:W3CDTF">2026-03-25T05:46:17Z</dcterms:created>
  <dcterms:modified xsi:type="dcterms:W3CDTF">2026-03-25T05:53:08Z</dcterms:modified>
</cp:coreProperties>
</file>